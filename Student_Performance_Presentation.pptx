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8"/>
            <a:ext cx="5897094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88825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4311" y="4939715"/>
            <a:ext cx="4418880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59729" y="4939258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0144" y="5873424"/>
            <a:ext cx="1005578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2" y="5718869"/>
            <a:ext cx="5914627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1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340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115" y="1012176"/>
            <a:ext cx="11110114" cy="84979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234" y="110365"/>
            <a:ext cx="52754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1063" y="104650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55" y="2115542"/>
            <a:ext cx="11010802" cy="445151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5145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4412" y="0"/>
            <a:ext cx="6094413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3" y="81290"/>
            <a:ext cx="4653084" cy="3739896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74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4"/>
            <a:ext cx="5889600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0144" y="5873424"/>
            <a:ext cx="1005578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3" y="2159632"/>
            <a:ext cx="9680974" cy="3776472"/>
          </a:xfrm>
        </p:spPr>
        <p:txBody>
          <a:bodyPr anchor="b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25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εφαλίδα ενότητα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4392" y="83125"/>
            <a:ext cx="73133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3" y="2184032"/>
            <a:ext cx="8072049" cy="4718304"/>
          </a:xfrm>
        </p:spPr>
        <p:txBody>
          <a:bodyPr anchor="b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7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3" y="82296"/>
            <a:ext cx="8137539" cy="1554480"/>
          </a:xfrm>
        </p:spPr>
        <p:txBody>
          <a:bodyPr anchor="t">
            <a:norm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7540" cy="3557904"/>
          </a:xfrm>
        </p:spPr>
        <p:txBody>
          <a:bodyPr>
            <a:normAutofit/>
          </a:bodyPr>
          <a:lstStyle>
            <a:lvl1pPr marL="342797" indent="-342797">
              <a:buFont typeface="+mj-lt"/>
              <a:buAutoNum type="arabicPeriod"/>
              <a:defRPr sz="1400"/>
            </a:lvl1pPr>
            <a:lvl2pPr marL="571329" indent="-342797">
              <a:buFont typeface="+mj-lt"/>
              <a:buAutoNum type="arabicPeriod"/>
              <a:defRPr sz="1400"/>
            </a:lvl2pPr>
            <a:lvl3pPr marL="799860" indent="-342797">
              <a:buFont typeface="+mj-lt"/>
              <a:buAutoNum type="arabicPeriod"/>
              <a:defRPr sz="1400"/>
            </a:lvl3pPr>
            <a:lvl4pPr marL="1028391" indent="-342797">
              <a:buFont typeface="+mj-lt"/>
              <a:buAutoNum type="arabicPeriod"/>
              <a:defRPr sz="1400"/>
            </a:lvl4pPr>
            <a:lvl5pPr marL="1256923" indent="-342797">
              <a:buFont typeface="+mj-lt"/>
              <a:buAutoNum type="arabicPeriod"/>
              <a:defRPr sz="14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0285" y="3218512"/>
            <a:ext cx="3556977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30" y="100702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6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791" y="621792"/>
            <a:ext cx="5385312" cy="1816898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510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8876" y="110365"/>
            <a:ext cx="534784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30" y="110365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8876" y="2740228"/>
            <a:ext cx="5905104" cy="4096512"/>
          </a:xfrm>
        </p:spPr>
        <p:txBody>
          <a:bodyPr anchor="b">
            <a:normAutofit/>
          </a:bodyPr>
          <a:lstStyle>
            <a:lvl1pPr marL="342797" indent="-342797">
              <a:buFont typeface="+mj-lt"/>
              <a:buAutoNum type="arabicPeriod"/>
              <a:defRPr sz="1400"/>
            </a:lvl1pPr>
            <a:lvl2pPr marL="571329" indent="-342797">
              <a:buFont typeface="+mj-lt"/>
              <a:buAutoNum type="arabicPeriod"/>
              <a:defRPr sz="1400"/>
            </a:lvl2pPr>
            <a:lvl3pPr marL="799860" indent="-342797">
              <a:buFont typeface="+mj-lt"/>
              <a:buAutoNum type="arabicPeriod"/>
              <a:defRPr sz="1400"/>
            </a:lvl3pPr>
            <a:lvl4pPr marL="1028391" indent="-342797">
              <a:buFont typeface="+mj-lt"/>
              <a:buAutoNum type="arabicPeriod"/>
              <a:defRPr sz="1400"/>
            </a:lvl4pPr>
            <a:lvl5pPr marL="1256923" indent="-342797">
              <a:buFont typeface="+mj-lt"/>
              <a:buAutoNum type="arabicPeriod"/>
              <a:defRPr sz="14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05" y="987552"/>
            <a:ext cx="5365082" cy="4044508"/>
          </a:xfrm>
        </p:spPr>
        <p:txBody>
          <a:bodyPr>
            <a:norm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012" y="100702"/>
            <a:ext cx="53650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88877" y="100702"/>
            <a:ext cx="29396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2839" y="100702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88877" y="969264"/>
            <a:ext cx="5335363" cy="481806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0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56" y="988980"/>
            <a:ext cx="3461976" cy="2942419"/>
          </a:xfrm>
        </p:spPr>
        <p:txBody>
          <a:bodyPr>
            <a:norm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012" y="100702"/>
            <a:ext cx="34693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6043" y="100702"/>
            <a:ext cx="29396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2839" y="100702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6043" y="967689"/>
            <a:ext cx="7215891" cy="523716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491" y="612140"/>
            <a:ext cx="6497962" cy="1519612"/>
          </a:xfrm>
        </p:spPr>
        <p:txBody>
          <a:bodyPr anchor="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276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2793" y="2457407"/>
            <a:ext cx="6439661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2794" y="6452991"/>
            <a:ext cx="196786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3358" y="6452990"/>
            <a:ext cx="429095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3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678" y="621793"/>
            <a:ext cx="7250821" cy="1138769"/>
          </a:xfrm>
        </p:spPr>
        <p:txBody>
          <a:bodyPr anchor="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23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7967" y="2115404"/>
            <a:ext cx="7223533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0679" y="6492876"/>
            <a:ext cx="196786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1553" y="6492876"/>
            <a:ext cx="1595784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2405" y="6492876"/>
            <a:ext cx="429095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0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66" y="621793"/>
            <a:ext cx="7250821" cy="1138769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454" y="2115404"/>
            <a:ext cx="7223533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6513" y="1"/>
            <a:ext cx="40223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166" y="6492876"/>
            <a:ext cx="196786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3041" y="6492876"/>
            <a:ext cx="159578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3892" y="6492876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9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80" y="621793"/>
            <a:ext cx="5325297" cy="1507454"/>
          </a:xfrm>
        </p:spPr>
        <p:txBody>
          <a:bodyPr anchor="t" anchorCtr="0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481" y="2513110"/>
            <a:ext cx="5325296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7199" y="0"/>
            <a:ext cx="588162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481" y="6450238"/>
            <a:ext cx="196786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2533" y="6464980"/>
            <a:ext cx="429095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8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" y="621793"/>
            <a:ext cx="4445713" cy="1867629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799" y="2890729"/>
            <a:ext cx="4448068" cy="3138438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173" y="0"/>
            <a:ext cx="68266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484" y="6430477"/>
            <a:ext cx="1967862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2772" y="6430477"/>
            <a:ext cx="429095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24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741" y="621793"/>
            <a:ext cx="3883534" cy="2280501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5871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5520" y="3211512"/>
            <a:ext cx="3883535" cy="2743200"/>
          </a:xfrm>
        </p:spPr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7742" y="6456385"/>
            <a:ext cx="1967862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1253" y="6456386"/>
            <a:ext cx="429095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56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30" y="3608277"/>
            <a:ext cx="4427547" cy="2620587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88825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6664" y="3579703"/>
            <a:ext cx="629680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531" indent="0">
              <a:buNone/>
              <a:defRPr lang="en-US" dirty="0"/>
            </a:lvl2pPr>
            <a:lvl3pPr marL="457063" indent="0">
              <a:buNone/>
              <a:defRPr lang="en-US" dirty="0"/>
            </a:lvl3pPr>
            <a:lvl4pPr marL="685594" indent="0">
              <a:buNone/>
              <a:defRPr lang="en-US" dirty="0"/>
            </a:lvl4pPr>
            <a:lvl5pPr marL="914126" indent="0">
              <a:buNone/>
              <a:defRPr lang="en-US" dirty="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1296" y="6442873"/>
            <a:ext cx="1967862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5036" y="6442873"/>
            <a:ext cx="2295399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371" y="6442874"/>
            <a:ext cx="429095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31" y="631711"/>
            <a:ext cx="11029366" cy="1115203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53" y="2115404"/>
            <a:ext cx="5785144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8876" y="2115403"/>
            <a:ext cx="5352421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400"/>
            </a:lvl3pPr>
            <a:lvl4pPr marL="685594" indent="0">
              <a:buFont typeface="Arial" panose="020B0604020202020204" pitchFamily="34" charset="0"/>
              <a:buNone/>
              <a:defRPr sz="1400"/>
            </a:lvl4pPr>
            <a:lvl5pPr marL="914126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5817" y="6428985"/>
            <a:ext cx="4466666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4002" y="6421710"/>
            <a:ext cx="617296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57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8" y="644000"/>
            <a:ext cx="2593874" cy="1877132"/>
          </a:xfrm>
        </p:spPr>
        <p:txBody>
          <a:bodyPr anchor="t" anchorCtr="0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582" y="2899954"/>
            <a:ext cx="360947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1037" y="644000"/>
            <a:ext cx="7181207" cy="5570000"/>
          </a:xfrm>
        </p:spPr>
        <p:txBody>
          <a:bodyPr anchor="b" anchorCtr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784" y="6438285"/>
            <a:ext cx="5275478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88877" y="6432497"/>
            <a:ext cx="2543416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6238" y="6438285"/>
            <a:ext cx="429095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9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1120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999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77" y="-156950"/>
            <a:ext cx="5955697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996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7208" y="5852160"/>
            <a:ext cx="1005578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30" y="100702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68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133856"/>
            <a:ext cx="10649986" cy="100584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3563" y="5852160"/>
            <a:ext cx="1005578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65" y="1016759"/>
            <a:ext cx="10080067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598" b="0" spc="-200" baseline="0"/>
            </a:lvl1pPr>
            <a:lvl2pPr marL="228531" indent="0">
              <a:lnSpc>
                <a:spcPct val="80000"/>
              </a:lnSpc>
              <a:buNone/>
              <a:defRPr sz="5598" b="0" spc="-200" baseline="0"/>
            </a:lvl2pPr>
            <a:lvl3pPr marL="457063" indent="0">
              <a:lnSpc>
                <a:spcPct val="80000"/>
              </a:lnSpc>
              <a:buNone/>
              <a:defRPr sz="5598" b="0" spc="-200" baseline="0"/>
            </a:lvl3pPr>
            <a:lvl4pPr marL="685594" indent="0">
              <a:lnSpc>
                <a:spcPct val="80000"/>
              </a:lnSpc>
              <a:buNone/>
              <a:defRPr sz="5598" b="0" spc="-200" baseline="0"/>
            </a:lvl4pPr>
            <a:lvl5pPr marL="914126" indent="0">
              <a:lnSpc>
                <a:spcPct val="80000"/>
              </a:lnSpc>
              <a:buNone/>
              <a:defRPr sz="5598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1326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0461" y="5852160"/>
            <a:ext cx="1005578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7"/>
            <a:ext cx="5901120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999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3" y="95534"/>
            <a:ext cx="8958786" cy="4476466"/>
          </a:xfrm>
        </p:spPr>
        <p:txBody>
          <a:bodyPr anchor="t">
            <a:normAutofit/>
          </a:bodyPr>
          <a:lstStyle>
            <a:lvl1pPr marL="164543" indent="-164543">
              <a:lnSpc>
                <a:spcPct val="80000"/>
              </a:lnSpc>
              <a:spcBef>
                <a:spcPts val="0"/>
              </a:spcBef>
              <a:buNone/>
              <a:defRPr sz="5598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59730" y="110365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1417" y="6392565"/>
            <a:ext cx="3104057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85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30" y="987552"/>
            <a:ext cx="3464674" cy="2944368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215" y="110365"/>
            <a:ext cx="347381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4845" y="104577"/>
            <a:ext cx="483562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4842" y="987552"/>
            <a:ext cx="7444886" cy="256032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4843" y="3931920"/>
            <a:ext cx="7444885" cy="256032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403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30" y="630936"/>
            <a:ext cx="11015651" cy="1088358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214" y="110365"/>
            <a:ext cx="52754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88877" y="104577"/>
            <a:ext cx="483562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214" y="2286001"/>
            <a:ext cx="518329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213" y="2980944"/>
            <a:ext cx="5181838" cy="3586111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8876" y="2286001"/>
            <a:ext cx="518183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88876" y="2980944"/>
            <a:ext cx="5181838" cy="358611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54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89" y="644663"/>
            <a:ext cx="11043075" cy="1088358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214" y="109729"/>
            <a:ext cx="52754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9004" y="110365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024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2"/>
            <a:ext cx="589709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6301" y="100702"/>
            <a:ext cx="533061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30" y="100702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61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84" y="655094"/>
            <a:ext cx="10979549" cy="1528549"/>
          </a:xfrm>
        </p:spPr>
        <p:txBody>
          <a:bodyPr anchor="t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84" y="2497541"/>
            <a:ext cx="10979549" cy="3384645"/>
          </a:xfrm>
        </p:spPr>
        <p:txBody>
          <a:bodyPr/>
          <a:lstStyle>
            <a:lvl1pPr marL="0" indent="0">
              <a:buNone/>
              <a:defRPr/>
            </a:lvl1pPr>
            <a:lvl2pPr marL="228531" indent="0">
              <a:buNone/>
              <a:defRPr/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784" y="6438285"/>
            <a:ext cx="52754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88877" y="6432497"/>
            <a:ext cx="254341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6238" y="6438285"/>
            <a:ext cx="4290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80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80" y="2883090"/>
            <a:ext cx="7739835" cy="1842020"/>
          </a:xfrm>
        </p:spPr>
        <p:txBody>
          <a:bodyPr anchor="b">
            <a:noAutofit/>
          </a:bodyPr>
          <a:lstStyle>
            <a:lvl1pPr>
              <a:defRPr sz="5598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766" y="100702"/>
            <a:ext cx="536032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6302" y="100702"/>
            <a:ext cx="252537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765" y="4922112"/>
            <a:ext cx="7739834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531" indent="0">
              <a:buNone/>
              <a:defRPr sz="1400"/>
            </a:lvl2pPr>
            <a:lvl3pPr marL="457063" indent="0">
              <a:buNone/>
              <a:defRPr sz="1400"/>
            </a:lvl3pPr>
            <a:lvl4pPr marL="685594" indent="0">
              <a:buNone/>
              <a:defRPr sz="1400"/>
            </a:lvl4pPr>
            <a:lvl5pPr marL="914126" indent="0">
              <a:buNone/>
              <a:defRPr sz="1400"/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30" y="6392175"/>
            <a:ext cx="429095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1978" y="100701"/>
            <a:ext cx="3556977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443819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3" y="644663"/>
            <a:ext cx="11998467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8877" y="104577"/>
            <a:ext cx="483562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97" y="110365"/>
            <a:ext cx="5275478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9729" y="110365"/>
            <a:ext cx="42909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2"/>
            <a:ext cx="11998467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8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5598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531" indent="0" algn="l" defTabSz="914126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063" indent="0" algn="l" defTabSz="914126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594" indent="0" algn="l" defTabSz="914126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126" indent="0" algn="l" defTabSz="914126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765" y="1014878"/>
            <a:ext cx="7739835" cy="1842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126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7365D"/>
                </a:solidFill>
              </a:defRPr>
            </a:pPr>
            <a:r>
              <a:rPr lang="en-US" sz="4300" spc="-200" dirty="0">
                <a:solidFill>
                  <a:srgbClr val="2F684B"/>
                </a:solidFill>
                <a:latin typeface="+mj-lt"/>
                <a:ea typeface="+mj-ea"/>
                <a:cs typeface="+mj-cs"/>
              </a:rPr>
              <a:t>Exploring the Factors That Affect Student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766" y="3017112"/>
            <a:ext cx="7739834" cy="1279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 defTabSz="914126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D29"/>
                </a:solidFill>
              </a:rPr>
              <a:t>The study looks at 395 students taking Mathematics in two schools in Portugal.</a:t>
            </a:r>
          </a:p>
          <a:p>
            <a:pPr marL="285750" lvl="0" indent="-285750" defTabSz="914126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D29"/>
                </a:solidFill>
              </a:rPr>
              <a:t>Students are graded from 0 to 20, and a score of 10 or higher is considered a pass.</a:t>
            </a:r>
          </a:p>
          <a:p>
            <a:pPr marL="285750" lvl="0" indent="-285750" defTabSz="914126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D29"/>
                </a:solidFill>
              </a:rPr>
              <a:t>The main goal is to find out which factors may be related to students' academic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765" y="2930050"/>
            <a:ext cx="2834640" cy="50292"/>
          </a:xfrm>
          <a:prstGeom prst="rect">
            <a:avLst/>
          </a:prstGeom>
          <a:solidFill>
            <a:srgbClr val="C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480" y="621793"/>
            <a:ext cx="5325297" cy="1507454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defTabSz="914126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7365D"/>
                </a:solidFill>
              </a:defRPr>
            </a:pPr>
            <a:r>
              <a:rPr lang="en-US" sz="5598" spc="-200">
                <a:solidFill>
                  <a:srgbClr val="2F684B"/>
                </a:solidFill>
                <a:latin typeface="+mj-lt"/>
                <a:ea typeface="+mj-ea"/>
                <a:cs typeface="+mj-cs"/>
              </a:rPr>
              <a:t>What do the grades 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481" y="2513110"/>
            <a:ext cx="5325296" cy="3568006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Average final grade: 10.4/20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67.1% of students passed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Some students received zero as a final grade</a:t>
            </a:r>
          </a:p>
        </p:txBody>
      </p:sp>
      <p:pic>
        <p:nvPicPr>
          <p:cNvPr id="4" name="Picture 3" descr="grade_distribution.png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07199" y="2010058"/>
            <a:ext cx="5881626" cy="283788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18480" y="2202399"/>
            <a:ext cx="2834640" cy="50292"/>
          </a:xfrm>
          <a:prstGeom prst="rect">
            <a:avLst/>
          </a:prstGeom>
          <a:solidFill>
            <a:srgbClr val="C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830" y="621793"/>
            <a:ext cx="4445713" cy="1867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126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7365D"/>
                </a:solidFill>
              </a:defRPr>
            </a:pPr>
            <a:r>
              <a:rPr lang="en-US" sz="5598" spc="-200">
                <a:solidFill>
                  <a:srgbClr val="2F684B"/>
                </a:solidFill>
                <a:latin typeface="+mj-lt"/>
                <a:ea typeface="+mj-ea"/>
                <a:cs typeface="+mj-cs"/>
              </a:rPr>
              <a:t>A key warning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3799" y="2890729"/>
            <a:ext cx="4448068" cy="3138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Students with previous class failures tend to have lower final grades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The relationship remains after adjusting for other selected characteristics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100"/>
            </a:pPr>
            <a:r>
              <a:rPr lang="en-US" sz="1400">
                <a:solidFill>
                  <a:srgbClr val="272D29"/>
                </a:solidFill>
              </a:rPr>
              <a:t>• This is a risk marker, not proof of a cause</a:t>
            </a:r>
          </a:p>
        </p:txBody>
      </p:sp>
      <p:pic>
        <p:nvPicPr>
          <p:cNvPr id="4" name="Picture 3" descr="group_compar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173" y="2251402"/>
            <a:ext cx="6826652" cy="235519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18830" y="2562574"/>
            <a:ext cx="2834640" cy="50292"/>
          </a:xfrm>
          <a:prstGeom prst="rect">
            <a:avLst/>
          </a:prstGeom>
          <a:solidFill>
            <a:srgbClr val="C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4067" y="1566496"/>
            <a:ext cx="3461976" cy="2942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126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7365D"/>
                </a:solidFill>
              </a:defRPr>
            </a:pPr>
            <a:r>
              <a:rPr lang="en-US" sz="4800" spc="-200" dirty="0">
                <a:solidFill>
                  <a:srgbClr val="2F684B"/>
                </a:solidFill>
                <a:latin typeface="+mj-lt"/>
                <a:ea typeface="+mj-ea"/>
                <a:cs typeface="+mj-cs"/>
              </a:rPr>
              <a:t>What do the models add?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6043" y="1771048"/>
            <a:ext cx="7215891" cy="4664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Each additional previous failure is associated with about 2.0 fewer grade points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The linear model explains only 16% of grade variation</a:t>
            </a:r>
          </a:p>
          <a:p>
            <a:pPr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Many important factors are not captured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067" y="4582067"/>
            <a:ext cx="2834640" cy="50292"/>
          </a:xfrm>
          <a:prstGeom prst="rect">
            <a:avLst/>
          </a:prstGeom>
          <a:solidFill>
            <a:srgbClr val="C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8283" y="738076"/>
            <a:ext cx="8137539" cy="1554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126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7365D"/>
                </a:solidFill>
              </a:defRPr>
            </a:pPr>
            <a:r>
              <a:rPr lang="en-US" sz="5598" spc="-200" dirty="0">
                <a:solidFill>
                  <a:srgbClr val="2F684B"/>
                </a:solidFill>
                <a:latin typeface="+mj-lt"/>
                <a:ea typeface="+mj-ea"/>
                <a:cs typeface="+mj-cs"/>
              </a:rPr>
              <a:t>What schools should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097197"/>
            <a:ext cx="8137540" cy="3557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797" indent="-342797"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buFont typeface="+mj-lt"/>
              <a:buAutoNum type="arabicPeriod"/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Consider supportive follow-up for students with prior failures</a:t>
            </a:r>
          </a:p>
          <a:p>
            <a:pPr marL="342797" indent="-342797"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buFont typeface="+mj-lt"/>
              <a:buAutoNum type="arabicPeriod"/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Avoid treating group associations as individual diagnoses</a:t>
            </a:r>
          </a:p>
          <a:p>
            <a:pPr marL="342797" indent="-342797"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buFont typeface="+mj-lt"/>
              <a:buAutoNum type="arabicPeriod"/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Results are observational, from two schools, and not proven to </a:t>
            </a:r>
            <a:r>
              <a:rPr lang="en-US" sz="1400" dirty="0" err="1">
                <a:solidFill>
                  <a:srgbClr val="272D29"/>
                </a:solidFill>
              </a:rPr>
              <a:t>generalise</a:t>
            </a:r>
            <a:endParaRPr lang="en-US" sz="1400" dirty="0"/>
          </a:p>
          <a:p>
            <a:pPr marL="342797" indent="-342797" defTabSz="914126">
              <a:lnSpc>
                <a:spcPct val="80000"/>
              </a:lnSpc>
              <a:spcBef>
                <a:spcPts val="1000"/>
              </a:spcBef>
              <a:spcAft>
                <a:spcPts val="2000"/>
              </a:spcAft>
              <a:buFont typeface="+mj-lt"/>
              <a:buAutoNum type="arabicPeriod"/>
              <a:defRPr sz="2400"/>
            </a:pPr>
            <a:r>
              <a:rPr lang="en-US" sz="1400" dirty="0">
                <a:solidFill>
                  <a:srgbClr val="272D29"/>
                </a:solidFill>
              </a:rPr>
              <a:t>• Evaluate any intervention before claiming it works</a:t>
            </a:r>
          </a:p>
        </p:txBody>
      </p:sp>
      <p:sp>
        <p:nvSpPr>
          <p:cNvPr id="5" name="Οβάλ 4">
            <a:extLst>
              <a:ext uri="{FF2B5EF4-FFF2-40B4-BE49-F238E27FC236}">
                <a16:creationId xmlns:a16="http://schemas.microsoft.com/office/drawing/2014/main" id="{3E1230FE-AB0C-D611-CCCD-0A595E37FF35}"/>
              </a:ext>
            </a:extLst>
          </p:cNvPr>
          <p:cNvSpPr/>
          <p:nvPr/>
        </p:nvSpPr>
        <p:spPr>
          <a:xfrm>
            <a:off x="8977745" y="3675424"/>
            <a:ext cx="2770909" cy="271614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Rectangle 5"/>
          <p:cNvSpPr/>
          <p:nvPr/>
        </p:nvSpPr>
        <p:spPr>
          <a:xfrm>
            <a:off x="-18283" y="2365708"/>
            <a:ext cx="2834640" cy="50292"/>
          </a:xfrm>
          <a:prstGeom prst="rect">
            <a:avLst/>
          </a:prstGeom>
          <a:solidFill>
            <a:srgbClr val="CD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Άξονας">
  <a:themeElements>
    <a:clrScheme name="Προσαρμοσμένο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FFFF"/>
      </a:accent1>
      <a:accent2>
        <a:srgbClr val="FFC30B"/>
      </a:accent2>
      <a:accent3>
        <a:srgbClr val="D7B5C6"/>
      </a:accent3>
      <a:accent4>
        <a:srgbClr val="70AD4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205</Words>
  <Application>Microsoft Office PowerPoint</Application>
  <PresentationFormat>Προσαρμογή</PresentationFormat>
  <Paragraphs>21</Paragraphs>
  <Slides>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Άξονας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Efstathios Emmanouilidis</cp:lastModifiedBy>
  <cp:revision>3</cp:revision>
  <dcterms:created xsi:type="dcterms:W3CDTF">2013-01-27T09:14:16Z</dcterms:created>
  <dcterms:modified xsi:type="dcterms:W3CDTF">2026-10-10T15:48:40Z</dcterms:modified>
  <cp:category/>
</cp:coreProperties>
</file>